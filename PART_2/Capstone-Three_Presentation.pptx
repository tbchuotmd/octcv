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</a:defRPr>
            </a:pPr>
            <a:r>
              <a:t>OCTCV Part 2: Physics-Informed</a:t>
            </a:r>
          </a:p>
          <a:p>
            <a:pPr algn="ctr">
              <a:defRPr sz="4000" b="1">
                <a:solidFill>
                  <a:srgbClr val="2C3E50"/>
                </a:solidFill>
              </a:defRPr>
            </a:pPr>
            <a:r>
              <a:t>Data Augmentation for Glaucoma Detection</a:t>
            </a:r>
          </a:p>
          <a:p>
            <a:endParaRPr/>
          </a:p>
          <a:p>
            <a:pPr algn="ctr">
              <a:defRPr sz="2000">
                <a:solidFill>
                  <a:srgbClr val="7F8C8D"/>
                </a:solidFill>
              </a:defRPr>
            </a:pPr>
            <a:r>
              <a:t>Capstone Three —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000" dirty="0"/>
              <a:t>1. Project Overview &amp; Motivation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2. Data &amp; EDA Findings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3. Augmentation Pipeline Design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4. Model Training &amp; Results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5. Part 1 vs Part 2 Comparison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6. Key Findings &amp; Conclusions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7.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000" dirty="0"/>
              <a:t>• Glaucoma: irreversible blindness affecting 80M+ globally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Part 1 trained 3D CNNs on 1,110 OCT volumes (best AUC = 0.94)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Question: Can data augmentation push performance higher?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Original paper also tested augmentation (AUC dropped 0.94 → 0.92)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Our hypothesis: physics-informed augmentation may do better</a:t>
            </a:r>
          </a:p>
          <a:p>
            <a:pPr>
              <a:spcAft>
                <a:spcPts val="1000"/>
              </a:spcAft>
              <a:defRPr sz="1800"/>
            </a:pP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Reference: </a:t>
            </a:r>
            <a:r>
              <a:rPr sz="2000" dirty="0" err="1"/>
              <a:t>Maetschke</a:t>
            </a:r>
            <a:r>
              <a:rPr sz="2000" dirty="0"/>
              <a:t> et al. (2019), PLOS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2580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000" dirty="0"/>
              <a:t>• Source: </a:t>
            </a:r>
            <a:r>
              <a:rPr sz="2000" dirty="0" err="1"/>
              <a:t>Zenodo</a:t>
            </a:r>
            <a:r>
              <a:rPr sz="2000" dirty="0"/>
              <a:t> (Ishikawa, 2018)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1,110 ONH-centered OCT volume scans (64×128×64 voxels)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624 patients, single Cirrus SD-OCT scanner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847 Glaucoma (POAG) / 263 Normal (76% / 24%)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Same train/test split as Part 1 preserved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Class distribution kept unbalanced (lesson from Part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EDA: Structural Similarity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rPr sz="2000" dirty="0"/>
              <a:t>• High intra-class SSIM (&gt; 0.8)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• Narrow distribution → conservative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   augmentation parameters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• Augmented volumes must stay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   within natural data manifold</a:t>
            </a:r>
          </a:p>
        </p:txBody>
      </p:sp>
      <p:pic>
        <p:nvPicPr>
          <p:cNvPr id="5" name="Picture 4" descr="ssim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43554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EDA: Frequency-Domain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371600"/>
            <a:ext cx="50718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rPr sz="2000" dirty="0"/>
              <a:t>• Glaucoma changes: mid-frequency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• Normal vs Glaucoma similar at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   low &amp; high frequencies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• Informed LPF radius (r=30)</a:t>
            </a:r>
          </a:p>
          <a:p>
            <a:pPr>
              <a:spcAft>
                <a:spcPts val="800"/>
              </a:spcAft>
              <a:defRPr sz="1600"/>
            </a:pPr>
            <a:r>
              <a:rPr sz="2000" dirty="0"/>
              <a:t>   to preserve diagnostic content</a:t>
            </a:r>
            <a:endParaRPr lang="en-US" sz="2000" dirty="0"/>
          </a:p>
          <a:p>
            <a:pPr>
              <a:spcAft>
                <a:spcPts val="800"/>
              </a:spcAft>
              <a:defRPr sz="1600"/>
            </a:pPr>
            <a:endParaRPr lang="en-US" sz="2000" dirty="0"/>
          </a:p>
          <a:p>
            <a:pPr>
              <a:spcAft>
                <a:spcPts val="800"/>
              </a:spcAft>
              <a:defRPr sz="1600"/>
            </a:pPr>
            <a:endParaRPr sz="2000" dirty="0"/>
          </a:p>
        </p:txBody>
      </p:sp>
      <p:pic>
        <p:nvPicPr>
          <p:cNvPr id="5" name="Picture 4" descr="radial-ps_class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36154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Augmentation Pipeline (1,110 → 6,660)</a:t>
            </a:r>
          </a:p>
        </p:txBody>
      </p:sp>
      <p:pic>
        <p:nvPicPr>
          <p:cNvPr id="4" name="Picture 3" descr="augment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3596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Augmentation Parameters &amp; Rationale</a:t>
            </a:r>
          </a:p>
        </p:txBody>
      </p:sp>
      <p:pic>
        <p:nvPicPr>
          <p:cNvPr id="4" name="Picture 3" descr="augmentation_parameter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39585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Model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000" dirty="0"/>
              <a:t>1. Sequential CNN — 5-layer (replicating </a:t>
            </a:r>
            <a:r>
              <a:rPr sz="2000" dirty="0" err="1"/>
              <a:t>Maetschke</a:t>
            </a:r>
            <a:r>
              <a:rPr sz="2000" dirty="0"/>
              <a:t> et al., 2019)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     Kernels: 7-5-5-3-3, 32 filters each</a:t>
            </a:r>
          </a:p>
          <a:p>
            <a:pPr>
              <a:spcAft>
                <a:spcPts val="1000"/>
              </a:spcAft>
              <a:defRPr sz="1800"/>
            </a:pP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2. </a:t>
            </a:r>
            <a:r>
              <a:rPr sz="2000" dirty="0" err="1"/>
              <a:t>ResNet</a:t>
            </a:r>
            <a:r>
              <a:rPr sz="2000" dirty="0"/>
              <a:t>-Like — Residual skip connections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     Conv3D stem + 3 residual blocks</a:t>
            </a:r>
          </a:p>
          <a:p>
            <a:pPr>
              <a:spcAft>
                <a:spcPts val="1000"/>
              </a:spcAft>
              <a:defRPr sz="1800"/>
            </a:pP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3. Attention — SE + spatial attention blocks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     Channel &amp; spatial feature recalibration</a:t>
            </a:r>
          </a:p>
          <a:p>
            <a:pPr>
              <a:spcAft>
                <a:spcPts val="1000"/>
              </a:spcAft>
              <a:defRPr sz="1800"/>
            </a:pP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All: GAP3D → Dense(1, sigmoid) | </a:t>
            </a:r>
            <a:r>
              <a:rPr sz="2000" dirty="0" err="1"/>
              <a:t>NAdam</a:t>
            </a:r>
            <a:r>
              <a:rPr sz="2000" dirty="0"/>
              <a:t> | Binary 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Training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000" dirty="0"/>
              <a:t>• Optimizer: </a:t>
            </a:r>
            <a:r>
              <a:rPr sz="2000" dirty="0" err="1"/>
              <a:t>NAdam</a:t>
            </a:r>
            <a:r>
              <a:rPr sz="2000" dirty="0"/>
              <a:t> (LR = 1e-4, tuned via grid search)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Batch size: 4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Early stopping: patience=5, monitor </a:t>
            </a:r>
            <a:r>
              <a:rPr sz="2000" dirty="0" err="1"/>
              <a:t>val_auc</a:t>
            </a: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Input normalization: /255 to [0, 1]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Training data: 5,328 augmented volumes (6× originals)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Validation: 111 original volumes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Evaluation: 111 original volumes (fair comparison)</a:t>
            </a:r>
          </a:p>
          <a:p>
            <a:pPr>
              <a:spcAft>
                <a:spcPts val="1000"/>
              </a:spcAft>
              <a:defRPr sz="1800"/>
            </a:pPr>
            <a:endParaRPr sz="2000" dirty="0"/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NO class balancing (Part 1 showed this hurts)</a:t>
            </a:r>
          </a:p>
          <a:p>
            <a:pPr>
              <a:spcAft>
                <a:spcPts val="1000"/>
              </a:spcAft>
              <a:defRPr sz="1800"/>
            </a:pPr>
            <a:r>
              <a:rPr sz="2000" dirty="0"/>
              <a:t>• NO stratification (paper never used it)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Results: Part 1 vs Part 2</a:t>
            </a:r>
          </a:p>
        </p:txBody>
      </p:sp>
      <p:pic>
        <p:nvPicPr>
          <p:cNvPr id="4" name="Picture 3" descr="p1_vs_p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Results: Complete Comparison</a:t>
            </a:r>
          </a:p>
        </p:txBody>
      </p:sp>
      <p:pic>
        <p:nvPicPr>
          <p:cNvPr id="4" name="Picture 3" descr="complete_result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44980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913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400" dirty="0"/>
              <a:t>1. Augmentation did NOT improve AUC for any architecture</a:t>
            </a:r>
          </a:p>
          <a:p>
            <a:pPr>
              <a:defRPr sz="1800"/>
            </a:pPr>
            <a:r>
              <a:rPr sz="2400" dirty="0"/>
              <a:t>     → Consistent with original paper (their AUC also dropped)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2. </a:t>
            </a:r>
            <a:r>
              <a:rPr sz="2400" dirty="0" err="1"/>
              <a:t>ResNet</a:t>
            </a:r>
            <a:r>
              <a:rPr sz="2400" dirty="0"/>
              <a:t>-Like remains best performer (0.94, Part 1)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3. Performance ceiling ≈ 0.94 is DATASET limited</a:t>
            </a:r>
          </a:p>
          <a:p>
            <a:pPr>
              <a:defRPr sz="1800"/>
            </a:pPr>
            <a:r>
              <a:rPr sz="2400" dirty="0"/>
              <a:t>     (diversity of patients, not volume of examples)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4. Hyperparameter tuning did not resolve the gap</a:t>
            </a:r>
          </a:p>
          <a:p>
            <a:pPr>
              <a:defRPr sz="1800"/>
            </a:pPr>
            <a:r>
              <a:rPr sz="2400" dirty="0"/>
              <a:t>     → Confirms data diversity is the bottleneck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Why Augmentation Didn't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707624" cy="4185761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400" dirty="0"/>
              <a:t>• Data diversity ≠ data volume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     Only 624 unique anatomies; augmentation can't create new ones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Small normal class (263 patients)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     Even 6× still only ~1,578 from same 263 anatomies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Augmentation ≠ new patients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     Can't introduce new structural configurations of ONH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Training dynamics diluted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     6× larger epoch → fewer unique gradients per step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Original paper found the same result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     Their augmentation also reduced AUC (0.94 → 0.92)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Conclusions</a:t>
            </a:r>
          </a:p>
        </p:txBody>
      </p:sp>
      <p:pic>
        <p:nvPicPr>
          <p:cNvPr id="4" name="Picture 3" descr="key_conclu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sz="2400" dirty="0"/>
              <a:t>• 5-Fold Cross-Validation for confidence intervals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Multi-center data from additional institutions/scanners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Transfer learning / medical imaging foundation models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Contrastive self-supervised pretraining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Grad-CAM explainability for clinical trust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Ensemble methods across architectures</a:t>
            </a:r>
          </a:p>
          <a:p>
            <a:pPr>
              <a:spcAft>
                <a:spcPts val="1000"/>
              </a:spcAft>
              <a:defRPr sz="1800"/>
            </a:pPr>
            <a:r>
              <a:rPr sz="2400" dirty="0"/>
              <a:t>• Web application deployment (</a:t>
            </a:r>
            <a:r>
              <a:rPr sz="2400" dirty="0" err="1"/>
              <a:t>Gradio</a:t>
            </a:r>
            <a:r>
              <a:rPr sz="2400" dirty="0"/>
              <a:t>/</a:t>
            </a:r>
            <a:r>
              <a:rPr sz="2400" dirty="0" err="1"/>
              <a:t>HuggingFace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PART_2/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DW-</a:t>
            </a:r>
            <a:r>
              <a:rPr dirty="0" err="1"/>
              <a:t>EDA.ipynb</a:t>
            </a:r>
            <a:r>
              <a:rPr dirty="0"/>
              <a:t>            Data wrangling &amp; EDA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PPs-</a:t>
            </a:r>
            <a:r>
              <a:rPr dirty="0" err="1"/>
              <a:t>Modeling.ipynb</a:t>
            </a:r>
            <a:r>
              <a:rPr dirty="0"/>
              <a:t>      Preprocessing + Modeling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</a:t>
            </a:r>
            <a:r>
              <a:rPr dirty="0" err="1"/>
              <a:t>model_metrics.json</a:t>
            </a:r>
            <a:r>
              <a:rPr dirty="0"/>
              <a:t>      Model metrics file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Final Report (.md)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└─ Presentation (.pptx)</a:t>
            </a:r>
          </a:p>
          <a:p>
            <a:pPr>
              <a:spcAft>
                <a:spcPts val="1000"/>
              </a:spcAft>
              <a:defRPr sz="1800"/>
            </a:pPr>
            <a:endParaRPr dirty="0"/>
          </a:p>
          <a:p>
            <a:pPr>
              <a:spcAft>
                <a:spcPts val="1000"/>
              </a:spcAft>
              <a:defRPr sz="1800"/>
            </a:pPr>
            <a:r>
              <a:rPr dirty="0" err="1"/>
              <a:t>octcv</a:t>
            </a:r>
            <a:r>
              <a:rPr dirty="0"/>
              <a:t>/</a:t>
            </a:r>
            <a:r>
              <a:rPr dirty="0" err="1"/>
              <a:t>mdl_lib</a:t>
            </a:r>
            <a:r>
              <a:rPr dirty="0"/>
              <a:t>/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architectures.py        3 CNN architectures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├─ __init__.py             </a:t>
            </a:r>
            <a:r>
              <a:rPr dirty="0" err="1"/>
              <a:t>XVolSet</a:t>
            </a:r>
            <a:r>
              <a:rPr dirty="0"/>
              <a:t>, </a:t>
            </a:r>
            <a:r>
              <a:rPr dirty="0" err="1"/>
              <a:t>train_model</a:t>
            </a:r>
            <a:r>
              <a:rPr dirty="0"/>
              <a:t>(), </a:t>
            </a:r>
            <a:r>
              <a:rPr dirty="0" err="1"/>
              <a:t>ModelEvaluator</a:t>
            </a:r>
            <a:endParaRPr dirty="0"/>
          </a:p>
          <a:p>
            <a:pPr>
              <a:spcAft>
                <a:spcPts val="1000"/>
              </a:spcAft>
              <a:defRPr sz="1800"/>
            </a:pPr>
            <a:r>
              <a:rPr dirty="0"/>
              <a:t>  └─ callbacks.py            </a:t>
            </a:r>
            <a:r>
              <a:rPr dirty="0" err="1"/>
              <a:t>LivePlot</a:t>
            </a:r>
            <a:r>
              <a:rPr dirty="0"/>
              <a:t>, </a:t>
            </a:r>
            <a:r>
              <a:rPr dirty="0" err="1"/>
              <a:t>EpochProgressBar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[1] Ishikawa (2018). OCT volumes for glaucoma detection. Zenodo.</a:t>
            </a:r>
          </a:p>
          <a:p>
            <a:pPr>
              <a:spcAft>
                <a:spcPts val="1000"/>
              </a:spcAft>
              <a:defRPr sz="1800"/>
            </a:pPr>
            <a:r>
              <a:t>[2] Maetschke et al. (2019). A feature agnostic approach for</a:t>
            </a:r>
          </a:p>
          <a:p>
            <a:pPr>
              <a:spcAft>
                <a:spcPts val="1000"/>
              </a:spcAft>
              <a:defRPr sz="1800"/>
            </a:pPr>
            <a:r>
              <a:t>     glaucoma detection in OCT volumes. PLOS ONE.</a:t>
            </a:r>
          </a:p>
          <a:p>
            <a:pPr>
              <a:spcAft>
                <a:spcPts val="1000"/>
              </a:spcAft>
              <a:defRPr sz="1800"/>
            </a:pPr>
            <a:r>
              <a:t>[3] He et al. (2016). Deep residual learning. CVPR.</a:t>
            </a:r>
          </a:p>
          <a:p>
            <a:pPr>
              <a:spcAft>
                <a:spcPts val="1000"/>
              </a:spcAft>
              <a:defRPr sz="1800"/>
            </a:pPr>
            <a:r>
              <a:t>[4] Hu et al. (2018). Squeeze-and-excitation networks. CVPR.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Thank You</a:t>
            </a:r>
          </a:p>
          <a:p>
            <a:endParaRPr/>
          </a:p>
          <a:p>
            <a:pPr algn="ctr">
              <a:defRPr sz="2800">
                <a:solidFill>
                  <a:srgbClr val="7F8C8D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805</Words>
  <Application>Microsoft Office PowerPoint</Application>
  <PresentationFormat>Widescreen</PresentationFormat>
  <Paragraphs>117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Nguyen, Tyler</cp:lastModifiedBy>
  <cp:revision>2</cp:revision>
  <dcterms:created xsi:type="dcterms:W3CDTF">2013-01-27T09:14:16Z</dcterms:created>
  <dcterms:modified xsi:type="dcterms:W3CDTF">2026-06-07T02:15:55Z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2026-06-07T02:15:55Z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3d817671-4d9c-4710-828e-b9a06277fdad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10, 3, 0, 1</vt:lpwstr>
  </property>
</Properties>
</file>