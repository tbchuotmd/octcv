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OCTCV Part 2: Physics-Informed</a:t>
            </a:r>
            <a:br/>
            <a:r>
              <a:t>Data Augmentation for Glaucoma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4C8DC"/>
                </a:solidFill>
              </a:defRPr>
            </a:pPr>
            <a:r>
              <a:t>Capstone Three — Final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1. Project Overview &amp; Motivation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2. Data &amp; EDA Findings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3. Augmentation Pipeline Design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4. Modeling Methodology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5. Results &amp; Comparison with Part 1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6. Discussion &amp; Key Insights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7. Conclusions &amp; Future Directions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Context &amp;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Glaucoma: irreversible blindness affecting 80M+ globally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Part 1 trained 3D CNNs on 1,110 OCT volumes → best AUC 0.94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Key question: Can data augmentation improve performance?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Challenge: Collecting new patient data is expensive &amp; slow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Approach: Physics-informed synthetic variations of existing scans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Source: Zenodo (Ishikawa, 2018) — same as Part 1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1,110 ONH-centered OCT volume scans (64×128×64 voxels)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624 patients: 847 Glaucoma / 263 Normal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76% / 24% class imbalance preserved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Train/test split from Part 1 maintained for fair comparison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EDA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SSIM Analysis:</a:t>
            </a:r>
          </a:p>
          <a:p>
            <a:pPr lvl="1">
              <a:spcAft>
                <a:spcPts val="400"/>
              </a:spcAft>
              <a:defRPr sz="1500">
                <a:solidFill>
                  <a:srgbClr val="505050"/>
                </a:solidFill>
              </a:defRPr>
            </a:pPr>
            <a:r>
              <a:t>High intra-class similarity (SSIM &gt; 0.8)</a:t>
            </a:r>
          </a:p>
          <a:p>
            <a:pPr lvl="1">
              <a:spcAft>
                <a:spcPts val="400"/>
              </a:spcAft>
              <a:defRPr sz="1500">
                <a:solidFill>
                  <a:srgbClr val="505050"/>
                </a:solidFill>
              </a:defRPr>
            </a:pPr>
            <a:r>
              <a:t>Narrow distribution → conservative augmentation parameters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Radial Power Spectrum:</a:t>
            </a:r>
          </a:p>
          <a:p>
            <a:pPr lvl="1">
              <a:spcAft>
                <a:spcPts val="400"/>
              </a:spcAft>
              <a:defRPr sz="1500">
                <a:solidFill>
                  <a:srgbClr val="505050"/>
                </a:solidFill>
              </a:defRPr>
            </a:pPr>
            <a:r>
              <a:t>Glaucoma signal in mid-frequency spatial features</a:t>
            </a:r>
          </a:p>
          <a:p>
            <a:pPr lvl="1">
              <a:spcAft>
                <a:spcPts val="400"/>
              </a:spcAft>
              <a:defRPr sz="1500">
                <a:solidFill>
                  <a:srgbClr val="505050"/>
                </a:solidFill>
              </a:defRPr>
            </a:pPr>
            <a:r>
              <a:t>Informed LPF radius (r=30) to preserve diagnostic content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Maximum Intensity Projections:</a:t>
            </a:r>
          </a:p>
          <a:p>
            <a:pPr lvl="1">
              <a:spcAft>
                <a:spcPts val="400"/>
              </a:spcAft>
              <a:defRPr sz="1500">
                <a:solidFill>
                  <a:srgbClr val="505050"/>
                </a:solidFill>
              </a:defRPr>
            </a:pPr>
            <a:r>
              <a:t>ONH region contains primary discriminative features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Conclusion: Dataset suited for conservative augmentation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Augmentation Pipeline (1,110 → 6,660)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Augmentation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Clinical Rationale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Gamma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γ = 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Over-exposed scan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Gamma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γ = 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Under-exposed scan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Rayleigh Noise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scale = 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OCT speckle noise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Low-Pass 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radius =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Defocus / reduced resolution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Fan Distortion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pivot = 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Scan-head misalignment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Augmentation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6× expansion: 5 augmentation types + originals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Test set: ONLY original (non-augmented) volumes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Class proportions preserved in all subsets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All transforms implemented in octcv/mdl_lib/augmentation.py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Parameters calibrated to keep SSIM within natural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Model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1. Sequential CNN — 5-layer (replicating Maetschke et al., 2019)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2. ResNet-Like — Sequential + residual skip connections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3. Attention Network — ResNet + squeeze-excitation + spatial attention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All built with Keras Functional API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Filter sizes: 7→5→3→3→3 with BatchNorm + ReLU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Training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Optimizer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Adam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Grid search (5e-5 to 5e-4)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Max 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Early Stopping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Patience = 8 (val AUC)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Input Normalization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/255 → [0, 1]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Stratification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Per-epoch balanced downsampling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Experimental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Training Data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Stratified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Part 1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Original 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Original + Stratified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Original 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Augmented + Stratified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Augmented 5,328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Yes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Results: Architecture ×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14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Sequential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Original (Part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ResNet-Like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Original (Part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Original (Part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Sequential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Augmented + Strat.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—*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ResNet-Like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Augmented + Strat.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—*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Augmented + Strat.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—*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1. Augmentation did NOT universally improve AUC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2. Per-epoch stratification improved training stability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3. ResNet-Like achieved highest performance consistently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4. Reproducibility gap with paper narrows with correct config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5. Performance ceiling (~0.94) appears dataset-intrinsic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Why Augmentation Didn't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Data diversity ≠ data volume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Only 263 healthy anatomies → limited "normal" template variety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Synthetic noise may introduce distribution shift as signal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Consistent with original paper (their augmented AUC = 0.92 &lt; 0.94)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Suggests intrinsic dataset limitation, not a pipeline flaw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Architecture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ResNet-Like: residual connections enable deeper feature hierarchies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Attention: extra params may overfit on small dataset → higher variance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All architectures converge in narrow AUC band (0.85–0.95)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Performance ceiling imposed by dataset size &amp; patient diversity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Best ratio of performance-to-complexity: ResNet-Like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Practical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Recommended: ResNet-Like on original data + stratification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Deployment: clinical triage / screening tool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Fast inference — single forward pass through shallow 3D CNN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Suitable for point-of-care use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Augmentation valuable for robustness but not accuracy gains 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1. Physics-informed augmentation is principled but dataset-limited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2. Architectural improvements (residuals) &gt; data augmentation here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3. Per-epoch stratification: simple &amp; effective for class imbalance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4. ResNet-Like recommended as production model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5. ~0.94 AUC ceiling is a property of the dataset itself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5-Fold Cross-Validation for confidence intervals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Multi-center data from additional institutions &amp; scanners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Transfer learning / 3D medical imaging foundation models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Grad-CAM explainability (validate attention to RNFL/cup)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Contrastive self-supervised pretraining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Web application (Gradio / Hugging Face Spaces)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• Ensemble methods across architectures &amp; folds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Project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PART_2/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├── DW-EDA.ipynb — Data wrangling &amp; EDA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├── Preprocessing.ipynb — Augmentation pipeline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├── Modeling.ipynb — Training &amp; evaluation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└── Capstone-Three_Final_Report.md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octcv/ — Shared library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├── mdl_lib/ (architectures, augmentation, callbacks)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├── arrViz.py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└── system_monitoring.py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1E30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[1] Ishikawa (2018). OCT volumes for glaucoma detection. Zenodo.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[2] Maetschke et al. (2019). Feature agnostic approach for glaucoma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  detection in OCT volumes. PLOS ONE.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[3] He et al. (2016). Deep residual learning. CVPR.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[4] Hu et al. (2018). Squeeze-and-excitation networks. CVPR.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[5] Shorten &amp; Khoshgoftaar (2019). Survey on image data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    augmentation for deep learning. Journal of Big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B4C8DC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