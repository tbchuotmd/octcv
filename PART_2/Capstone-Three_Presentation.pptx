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2C3E50"/>
                </a:solidFill>
              </a:defRPr>
            </a:pPr>
            <a:r>
              <a:t>OCTCV Part 2: Physics-Informed</a:t>
            </a:r>
          </a:p>
          <a:p>
            <a:pPr algn="ctr">
              <a:defRPr sz="4000" b="1">
                <a:solidFill>
                  <a:srgbClr val="2C3E50"/>
                </a:solidFill>
              </a:defRPr>
            </a:pPr>
            <a:r>
              <a:t>Data Augmentation for Glaucoma Detection</a:t>
            </a:r>
          </a:p>
          <a:p/>
          <a:p>
            <a:pPr algn="ctr">
              <a:defRPr sz="2000">
                <a:solidFill>
                  <a:srgbClr val="7F8C8D"/>
                </a:solidFill>
              </a:defRPr>
            </a:pPr>
            <a:r>
              <a:t>Capstone Three — Final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Project Overview &amp; Motivation</a:t>
            </a:r>
          </a:p>
          <a:p>
            <a:pPr>
              <a:spcAft>
                <a:spcPts val="1000"/>
              </a:spcAft>
              <a:defRPr sz="1800"/>
            </a:pPr>
            <a:r>
              <a:t>2. Data &amp; EDA Findings</a:t>
            </a:r>
          </a:p>
          <a:p>
            <a:pPr>
              <a:spcAft>
                <a:spcPts val="1000"/>
              </a:spcAft>
              <a:defRPr sz="1800"/>
            </a:pPr>
            <a:r>
              <a:t>3. Augmentation Pipeline Design</a:t>
            </a:r>
          </a:p>
          <a:p>
            <a:pPr>
              <a:spcAft>
                <a:spcPts val="1000"/>
              </a:spcAft>
              <a:defRPr sz="1800"/>
            </a:pPr>
            <a:r>
              <a:t>4. Model Training &amp; Results</a:t>
            </a:r>
          </a:p>
          <a:p>
            <a:pPr>
              <a:spcAft>
                <a:spcPts val="1000"/>
              </a:spcAft>
              <a:defRPr sz="1800"/>
            </a:pPr>
            <a:r>
              <a:t>5. Part 1 vs Part 2 Comparison</a:t>
            </a:r>
          </a:p>
          <a:p>
            <a:pPr>
              <a:spcAft>
                <a:spcPts val="1000"/>
              </a:spcAft>
              <a:defRPr sz="1800"/>
            </a:pPr>
            <a:r>
              <a:t>6. Key Findings &amp; Conclusions</a:t>
            </a:r>
          </a:p>
          <a:p>
            <a:pPr>
              <a:spcAft>
                <a:spcPts val="1000"/>
              </a:spcAft>
              <a:defRPr sz="1800"/>
            </a:pPr>
            <a:r>
              <a:t>7. Future Directions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Context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Glaucoma: irreversible blindness affecting 80M+ globally</a:t>
            </a:r>
          </a:p>
          <a:p>
            <a:pPr>
              <a:spcAft>
                <a:spcPts val="1000"/>
              </a:spcAft>
              <a:defRPr sz="1800"/>
            </a:pPr>
            <a:r>
              <a:t>• Part 1 trained 3D CNNs on 1,110 OCT volumes (best AUC = 0.94)</a:t>
            </a:r>
          </a:p>
          <a:p>
            <a:pPr>
              <a:spcAft>
                <a:spcPts val="1000"/>
              </a:spcAft>
              <a:defRPr sz="1800"/>
            </a:pPr>
            <a:r>
              <a:t>• Question: Can data augmentation push performance higher?</a:t>
            </a:r>
          </a:p>
          <a:p>
            <a:pPr>
              <a:spcAft>
                <a:spcPts val="1000"/>
              </a:spcAft>
              <a:defRPr sz="1800"/>
            </a:pPr>
            <a:r>
              <a:t>• Original paper also tested augmentation (AUC dropped 0.94 → 0.92)</a:t>
            </a:r>
          </a:p>
          <a:p>
            <a:pPr>
              <a:spcAft>
                <a:spcPts val="1000"/>
              </a:spcAft>
              <a:defRPr sz="1800"/>
            </a:pPr>
            <a:r>
              <a:t>• Our hypothesis: physics-informed augmentation may do better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Reference: Maetschke et al. (2019), PLOS 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Source: Zenodo (Ishikawa, 2018)</a:t>
            </a:r>
          </a:p>
          <a:p>
            <a:pPr>
              <a:spcAft>
                <a:spcPts val="1000"/>
              </a:spcAft>
              <a:defRPr sz="1800"/>
            </a:pPr>
            <a:r>
              <a:t>• 1,110 ONH-centered OCT volume scans (64×128×64 voxels)</a:t>
            </a:r>
          </a:p>
          <a:p>
            <a:pPr>
              <a:spcAft>
                <a:spcPts val="1000"/>
              </a:spcAft>
              <a:defRPr sz="1800"/>
            </a:pPr>
            <a:r>
              <a:t>• 624 patients, single Cirrus SD-OCT scanner</a:t>
            </a:r>
          </a:p>
          <a:p>
            <a:pPr>
              <a:spcAft>
                <a:spcPts val="1000"/>
              </a:spcAft>
              <a:defRPr sz="1800"/>
            </a:pPr>
            <a:r>
              <a:t>• 847 Glaucoma (POAG) / 263 Normal (76% / 24%)</a:t>
            </a:r>
          </a:p>
          <a:p>
            <a:pPr>
              <a:spcAft>
                <a:spcPts val="1000"/>
              </a:spcAft>
              <a:defRPr sz="1800"/>
            </a:pPr>
            <a:r>
              <a:t>• Same train/test split as Part 1 preserved</a:t>
            </a:r>
          </a:p>
          <a:p>
            <a:pPr>
              <a:spcAft>
                <a:spcPts val="1000"/>
              </a:spcAft>
              <a:defRPr sz="1800"/>
            </a:pPr>
            <a:r>
              <a:t>• Class distribution kept unbalanced (lesson from Part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EDA: Structural Similarity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High intra-class SSIM (&gt; 0.8)</a:t>
            </a:r>
          </a:p>
          <a:p>
            <a:pPr>
              <a:spcAft>
                <a:spcPts val="800"/>
              </a:spcAft>
              <a:defRPr sz="1600"/>
            </a:pPr>
            <a:r>
              <a:t>• Narrow distribution → conservative</a:t>
            </a:r>
          </a:p>
          <a:p>
            <a:pPr>
              <a:spcAft>
                <a:spcPts val="800"/>
              </a:spcAft>
              <a:defRPr sz="1600"/>
            </a:pPr>
            <a:r>
              <a:t>   augmentation parameters</a:t>
            </a:r>
          </a:p>
          <a:p>
            <a:pPr>
              <a:spcAft>
                <a:spcPts val="800"/>
              </a:spcAft>
              <a:defRPr sz="1600"/>
            </a:pPr>
            <a:r>
              <a:t>• Augmented volumes must stay</a:t>
            </a:r>
          </a:p>
          <a:p>
            <a:pPr>
              <a:spcAft>
                <a:spcPts val="800"/>
              </a:spcAft>
              <a:defRPr sz="1600"/>
            </a:pPr>
            <a:r>
              <a:t>   within natural data manifold</a:t>
            </a:r>
          </a:p>
        </p:txBody>
      </p:sp>
      <p:pic>
        <p:nvPicPr>
          <p:cNvPr id="5" name="Picture 4" descr="ssim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43554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EDA: Frequency-Domain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Glaucoma changes: mid-frequency</a:t>
            </a:r>
          </a:p>
          <a:p>
            <a:pPr>
              <a:spcAft>
                <a:spcPts val="800"/>
              </a:spcAft>
              <a:defRPr sz="1600"/>
            </a:pPr>
            <a:r>
              <a:t>• Normal vs Glaucoma similar at</a:t>
            </a:r>
          </a:p>
          <a:p>
            <a:pPr>
              <a:spcAft>
                <a:spcPts val="800"/>
              </a:spcAft>
              <a:defRPr sz="1600"/>
            </a:pPr>
            <a:r>
              <a:t>   low &amp; high frequencies</a:t>
            </a:r>
          </a:p>
          <a:p>
            <a:pPr>
              <a:spcAft>
                <a:spcPts val="800"/>
              </a:spcAft>
              <a:defRPr sz="1600"/>
            </a:pPr>
            <a:r>
              <a:t>• Informed LPF radius (r=30)</a:t>
            </a:r>
          </a:p>
          <a:p>
            <a:pPr>
              <a:spcAft>
                <a:spcPts val="800"/>
              </a:spcAft>
              <a:defRPr sz="1600"/>
            </a:pPr>
            <a:r>
              <a:t>   to preserve diagnostic content</a:t>
            </a:r>
          </a:p>
        </p:txBody>
      </p:sp>
      <p:pic>
        <p:nvPicPr>
          <p:cNvPr id="5" name="Picture 4" descr="radial-ps_class-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371600"/>
            <a:ext cx="5760720" cy="36154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Augmentation Pipeline (1,110 → 6,660)</a:t>
            </a:r>
          </a:p>
        </p:txBody>
      </p:sp>
      <p:pic>
        <p:nvPicPr>
          <p:cNvPr id="4" name="Picture 3" descr="augmentatio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35960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Augmentation Parameters &amp; Rationale</a:t>
            </a:r>
          </a:p>
        </p:txBody>
      </p:sp>
      <p:pic>
        <p:nvPicPr>
          <p:cNvPr id="4" name="Picture 3" descr="augmentation_parameter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39585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Model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Sequential CNN — 5-layer (replicating Maetschke et al., 2019)</a:t>
            </a:r>
          </a:p>
          <a:p>
            <a:pPr>
              <a:spcAft>
                <a:spcPts val="1000"/>
              </a:spcAft>
              <a:defRPr sz="1800"/>
            </a:pPr>
            <a:r>
              <a:t>     Kernels: 7-5-5-3-3, 32 filters each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ResNet-Like — Residual skip connections</a:t>
            </a:r>
          </a:p>
          <a:p>
            <a:pPr>
              <a:spcAft>
                <a:spcPts val="1000"/>
              </a:spcAft>
              <a:defRPr sz="1800"/>
            </a:pPr>
            <a:r>
              <a:t>     Conv3D stem + 3 residual blocks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Attention — SE + spatial attention blocks</a:t>
            </a:r>
          </a:p>
          <a:p>
            <a:pPr>
              <a:spcAft>
                <a:spcPts val="1000"/>
              </a:spcAft>
              <a:defRPr sz="1800"/>
            </a:pPr>
            <a:r>
              <a:t>     Channel &amp; spatial feature recalibration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All: GAP3D → Dense(1, sigmoid) | NAdam | Binary 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Training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Optimizer: NAdam (LR = 1e-4, tuned via grid search)</a:t>
            </a:r>
          </a:p>
          <a:p>
            <a:pPr>
              <a:spcAft>
                <a:spcPts val="1000"/>
              </a:spcAft>
              <a:defRPr sz="1800"/>
            </a:pPr>
            <a:r>
              <a:t>• Batch size: 4</a:t>
            </a:r>
          </a:p>
          <a:p>
            <a:pPr>
              <a:spcAft>
                <a:spcPts val="1000"/>
              </a:spcAft>
              <a:defRPr sz="1800"/>
            </a:pPr>
            <a:r>
              <a:t>• Early stopping: patience=5, monitor val_auc</a:t>
            </a:r>
          </a:p>
          <a:p>
            <a:pPr>
              <a:spcAft>
                <a:spcPts val="1000"/>
              </a:spcAft>
              <a:defRPr sz="1800"/>
            </a:pPr>
            <a:r>
              <a:t>• Input normalization: /255 to [0, 1]</a:t>
            </a:r>
          </a:p>
          <a:p>
            <a:pPr>
              <a:spcAft>
                <a:spcPts val="1000"/>
              </a:spcAft>
              <a:defRPr sz="1800"/>
            </a:pPr>
            <a:r>
              <a:t>• Training data: 5,328 augmented volumes (6× originals)</a:t>
            </a:r>
          </a:p>
          <a:p>
            <a:pPr>
              <a:spcAft>
                <a:spcPts val="1000"/>
              </a:spcAft>
              <a:defRPr sz="1800"/>
            </a:pPr>
            <a:r>
              <a:t>• Validation: 111 original volumes</a:t>
            </a:r>
          </a:p>
          <a:p>
            <a:pPr>
              <a:spcAft>
                <a:spcPts val="1000"/>
              </a:spcAft>
              <a:defRPr sz="1800"/>
            </a:pPr>
            <a:r>
              <a:t>• Evaluation: 111 original volumes (fair comparison)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• NO class balancing (Part 1 showed this hurts)</a:t>
            </a:r>
          </a:p>
          <a:p>
            <a:pPr>
              <a:spcAft>
                <a:spcPts val="1000"/>
              </a:spcAft>
              <a:defRPr sz="1800"/>
            </a:pPr>
            <a:r>
              <a:t>• NO stratification (paper never used it)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Results: Part 1 vs Part 2</a:t>
            </a:r>
          </a:p>
        </p:txBody>
      </p:sp>
      <p:pic>
        <p:nvPicPr>
          <p:cNvPr id="4" name="Picture 3" descr="p1_vs_p2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56782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Results: Complete Comparison</a:t>
            </a:r>
          </a:p>
        </p:txBody>
      </p:sp>
      <p:pic>
        <p:nvPicPr>
          <p:cNvPr id="4" name="Picture 3" descr="complete_result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449805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1. Augmentation did NOT improve AUC for any architecture</a:t>
            </a:r>
          </a:p>
          <a:p>
            <a:pPr>
              <a:spcAft>
                <a:spcPts val="1000"/>
              </a:spcAft>
              <a:defRPr sz="1800"/>
            </a:pPr>
            <a:r>
              <a:t>     → Consistent with original paper (their AUC also dropped)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2. ResNet-Like remains best performer (0.94, Part 1)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3. Class balancing (downsampling) is harmful</a:t>
            </a:r>
          </a:p>
          <a:p>
            <a:pPr>
              <a:spcAft>
                <a:spcPts val="1000"/>
              </a:spcAft>
              <a:defRPr sz="1800"/>
            </a:pPr>
            <a:r>
              <a:t>     → Confirmed from Part 1: AUC drops to ~0.5</a:t>
            </a:r>
          </a:p>
          <a:p>
            <a:pPr>
              <a:spcAft>
                <a:spcPts val="1000"/>
              </a:spcAft>
              <a:defRPr sz="1800"/>
            </a:pPr>
            <a:r>
              <a:t>     → Paper never used it either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4. Performance ceiling ≈ 0.94 is DATASET limited</a:t>
            </a:r>
          </a:p>
          <a:p>
            <a:pPr>
              <a:spcAft>
                <a:spcPts val="1000"/>
              </a:spcAft>
              <a:defRPr sz="1800"/>
            </a:pPr>
            <a:r>
              <a:t>     (diversity of patients, not volume of examples)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Why Augmentation Didn't Help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Data diversity ≠ data volume</a:t>
            </a:r>
          </a:p>
          <a:p>
            <a:pPr>
              <a:spcAft>
                <a:spcPts val="1000"/>
              </a:spcAft>
              <a:defRPr sz="1800"/>
            </a:pPr>
            <a:r>
              <a:t>     Only 624 unique anatomies; augmentation can't create new ones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• Small normal class (263 patients)</a:t>
            </a:r>
          </a:p>
          <a:p>
            <a:pPr>
              <a:spcAft>
                <a:spcPts val="1000"/>
              </a:spcAft>
              <a:defRPr sz="1800"/>
            </a:pPr>
            <a:r>
              <a:t>     Even 6× still only ~1,578 from same 263 anatomies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• Augmentation ≠ new patients</a:t>
            </a:r>
          </a:p>
          <a:p>
            <a:pPr>
              <a:spcAft>
                <a:spcPts val="1000"/>
              </a:spcAft>
              <a:defRPr sz="1800"/>
            </a:pPr>
            <a:r>
              <a:t>     Can't introduce new structural configurations of ONH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• Training dynamics diluted</a:t>
            </a:r>
          </a:p>
          <a:p>
            <a:pPr>
              <a:spcAft>
                <a:spcPts val="1000"/>
              </a:spcAft>
              <a:defRPr sz="1800"/>
            </a:pPr>
            <a:r>
              <a:t>     6× larger epoch → fewer unique gradients per step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• Original paper found the same result</a:t>
            </a:r>
          </a:p>
          <a:p>
            <a:pPr>
              <a:spcAft>
                <a:spcPts val="1000"/>
              </a:spcAft>
              <a:defRPr sz="1800"/>
            </a:pPr>
            <a:r>
              <a:t>     Their augmentation also reduced AUC (0.94 → 0.92)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Lesson from Part 1: No Class Balancing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Part 1 tested downsampling majority class (Glaucoma)</a:t>
            </a:r>
          </a:p>
          <a:p>
            <a:pPr>
              <a:spcAft>
                <a:spcPts val="1000"/>
              </a:spcAft>
              <a:defRPr sz="1800"/>
            </a:pPr>
            <a:r>
              <a:t>     to match minority (Normal): 888 → 406 training volumes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• Result: CATASTROPHIC</a:t>
            </a:r>
          </a:p>
          <a:p>
            <a:pPr>
              <a:spcAft>
                <a:spcPts val="1000"/>
              </a:spcAft>
              <a:defRPr sz="1800"/>
            </a:pPr>
            <a:r>
              <a:t>     ResNet-Like: 0.94 → ~0.5 (random chance)</a:t>
            </a:r>
          </a:p>
          <a:p>
            <a:pPr>
              <a:spcAft>
                <a:spcPts val="1000"/>
              </a:spcAft>
              <a:defRPr sz="1800"/>
            </a:pPr>
            <a:r>
              <a:t>     Attention:   0.93 → ~0.5 (random chance)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• Why: Glaucoma is heterogeneous (many patterns)</a:t>
            </a:r>
          </a:p>
          <a:p>
            <a:pPr>
              <a:spcAft>
                <a:spcPts val="1000"/>
              </a:spcAft>
              <a:defRPr sz="1800"/>
            </a:pPr>
            <a:r>
              <a:t>     needs many examples; Normal is homogeneous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• Paper never used class balancing</a:t>
            </a:r>
          </a:p>
          <a:p>
            <a:pPr>
              <a:spcAft>
                <a:spcPts val="1000"/>
              </a:spcAft>
              <a:defRPr sz="1800"/>
            </a:pPr>
            <a:r>
              <a:t>• Part 2 keeps unbalanced distribution as-is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Conclusions</a:t>
            </a:r>
          </a:p>
        </p:txBody>
      </p:sp>
      <p:pic>
        <p:nvPicPr>
          <p:cNvPr id="4" name="Picture 3" descr="key_conclu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9144000" cy="54556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• 5-Fold Cross-Validation for confidence intervals</a:t>
            </a:r>
          </a:p>
          <a:p>
            <a:pPr>
              <a:spcAft>
                <a:spcPts val="1000"/>
              </a:spcAft>
              <a:defRPr sz="1800"/>
            </a:pPr>
            <a:r>
              <a:t>• Multi-center data from additional institutions/scanners</a:t>
            </a:r>
          </a:p>
          <a:p>
            <a:pPr>
              <a:spcAft>
                <a:spcPts val="1000"/>
              </a:spcAft>
              <a:defRPr sz="1800"/>
            </a:pPr>
            <a:r>
              <a:t>• Transfer learning / medical imaging foundation models</a:t>
            </a:r>
          </a:p>
          <a:p>
            <a:pPr>
              <a:spcAft>
                <a:spcPts val="1000"/>
              </a:spcAft>
              <a:defRPr sz="1800"/>
            </a:pPr>
            <a:r>
              <a:t>• Contrastive self-supervised pretraining</a:t>
            </a:r>
          </a:p>
          <a:p>
            <a:pPr>
              <a:spcAft>
                <a:spcPts val="1000"/>
              </a:spcAft>
              <a:defRPr sz="1800"/>
            </a:pPr>
            <a:r>
              <a:t>• Grad-CAM explainability for clinical trust</a:t>
            </a:r>
          </a:p>
          <a:p>
            <a:pPr>
              <a:spcAft>
                <a:spcPts val="1000"/>
              </a:spcAft>
              <a:defRPr sz="1800"/>
            </a:pPr>
            <a:r>
              <a:t>• Ensemble methods across architectures</a:t>
            </a:r>
          </a:p>
          <a:p>
            <a:pPr>
              <a:spcAft>
                <a:spcPts val="1000"/>
              </a:spcAft>
              <a:defRPr sz="1800"/>
            </a:pPr>
            <a:r>
              <a:t>• Web application deployment (Gradio/HuggingFace)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PART_2/</a:t>
            </a:r>
          </a:p>
          <a:p>
            <a:pPr>
              <a:spcAft>
                <a:spcPts val="1000"/>
              </a:spcAft>
              <a:defRPr sz="1800"/>
            </a:pPr>
            <a:r>
              <a:t>  ├─ DW-EDA.ipynb            Data wrangling &amp; EDA</a:t>
            </a:r>
          </a:p>
          <a:p>
            <a:pPr>
              <a:spcAft>
                <a:spcPts val="1000"/>
              </a:spcAft>
              <a:defRPr sz="1800"/>
            </a:pPr>
            <a:r>
              <a:t>  ├─ PPs-Modeling.ipynb      Preprocessing + Modeling</a:t>
            </a:r>
          </a:p>
          <a:p>
            <a:pPr>
              <a:spcAft>
                <a:spcPts val="1000"/>
              </a:spcAft>
              <a:defRPr sz="1800"/>
            </a:pPr>
            <a:r>
              <a:t>  ├─ model_metrics.json      Model metrics file</a:t>
            </a:r>
          </a:p>
          <a:p>
            <a:pPr>
              <a:spcAft>
                <a:spcPts val="1000"/>
              </a:spcAft>
              <a:defRPr sz="1800"/>
            </a:pPr>
            <a:r>
              <a:t>  ├─ Final Report (.md)</a:t>
            </a:r>
          </a:p>
          <a:p>
            <a:pPr>
              <a:spcAft>
                <a:spcPts val="1000"/>
              </a:spcAft>
              <a:defRPr sz="1800"/>
            </a:pPr>
            <a:r>
              <a:t>  └─ Presentation (.pptx)</a:t>
            </a:r>
          </a:p>
          <a:p>
            <a:pPr>
              <a:spcAft>
                <a:spcPts val="1000"/>
              </a:spcAft>
              <a:defRPr sz="1800"/>
            </a:pPr>
          </a:p>
          <a:p>
            <a:pPr>
              <a:spcAft>
                <a:spcPts val="1000"/>
              </a:spcAft>
              <a:defRPr sz="1800"/>
            </a:pPr>
            <a:r>
              <a:t>octcv/mdl_lib/</a:t>
            </a:r>
          </a:p>
          <a:p>
            <a:pPr>
              <a:spcAft>
                <a:spcPts val="1000"/>
              </a:spcAft>
              <a:defRPr sz="1800"/>
            </a:pPr>
            <a:r>
              <a:t>  ├─ architectures.py        3 CNN architectures</a:t>
            </a:r>
          </a:p>
          <a:p>
            <a:pPr>
              <a:spcAft>
                <a:spcPts val="1000"/>
              </a:spcAft>
              <a:defRPr sz="1800"/>
            </a:pPr>
            <a:r>
              <a:t>  ├─ __init__.py             XVolSet, train_model(), ModelEvaluator</a:t>
            </a:r>
          </a:p>
          <a:p>
            <a:pPr>
              <a:spcAft>
                <a:spcPts val="1000"/>
              </a:spcAft>
              <a:defRPr sz="1800"/>
            </a:pPr>
            <a:r>
              <a:t>  └─ callbacks.py            LivePlot, EpochProgressBar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[1] Ishikawa (2018). OCT volumes for glaucoma detection. Zenodo.</a:t>
            </a:r>
          </a:p>
          <a:p>
            <a:pPr>
              <a:spcAft>
                <a:spcPts val="1000"/>
              </a:spcAft>
              <a:defRPr sz="1800"/>
            </a:pPr>
            <a:r>
              <a:t>[2] Maetschke et al. (2019). A feature agnostic approach for</a:t>
            </a:r>
          </a:p>
          <a:p>
            <a:pPr>
              <a:spcAft>
                <a:spcPts val="1000"/>
              </a:spcAft>
              <a:defRPr sz="1800"/>
            </a:pPr>
            <a:r>
              <a:t>     glaucoma detection in OCT volumes. PLOS ONE.</a:t>
            </a:r>
          </a:p>
          <a:p>
            <a:pPr>
              <a:spcAft>
                <a:spcPts val="1000"/>
              </a:spcAft>
              <a:defRPr sz="1800"/>
            </a:pPr>
            <a:r>
              <a:t>[3] He et al. (2016). Deep residual learning. CVPR.</a:t>
            </a:r>
          </a:p>
          <a:p>
            <a:pPr>
              <a:spcAft>
                <a:spcPts val="1000"/>
              </a:spcAft>
              <a:defRPr sz="1800"/>
            </a:pPr>
            <a:r>
              <a:t>[4] Hu et al. (2018). Squeeze-and-excitation networks. CVPR.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Thank You</a:t>
            </a:r>
          </a:p>
          <a:p/>
          <a:p>
            <a:pPr algn="ctr">
              <a:defRPr sz="2800">
                <a:solidFill>
                  <a:srgbClr val="7F8C8D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